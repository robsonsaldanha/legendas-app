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Abertura: apresente o CNT Legendas em uma frase. "Programa de legendagem profissional que traduz, revisa, sincroniza e confere as legendas, rodando no computador da equipe." Destaque que é um aplicativo em constante atualização.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Conecte com a dor do cliente: prazos curtos, manuais diferentes por cliente e retrabalho. Pergunte quantos episódios por mês eles legendam e quanto tempo gastam na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 fluxo em quatro passos. Reforce: os arquivos originais do cliente nunca são alterados.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 editor: grade com velocidade de leitura em cores, vídeo com a legenda, forma de onda arrastável. Tudo em uma 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os dois jeitos de traduzir: pela API (automático, com custo do próprio cliente) ou pelo assistente de IA do cliente (sem API). Glossário e regras do cliente entram nos dois.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Sincronia é um diferencial: a legenda é acertada pela voz do vídeo. Há também sincronização por referência e por cortes de cena.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Verificar antes de entregar reduz devolução. As regras vêm do perfil do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empresas: relatórios de produção, clientes e glossários, Workspace da empresa nos planos Business e Enterprise.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que o mesmo programa cobre legenda ao vivo e audiodescrição, e transcreve vídeo sem legenda.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Reforce que o trabalho é local: relevante para empresas com conteúdo confidencial.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IMPORTANTE: destaque que é um aplicativo em constante atualização, com atualização automática ao abrir. Cite exemplos recentes (legenda ao vivo, audiodescrição, Mac e Linux).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os planos. Todas as funções em todos os planos; muda o número de computadores. Valores sujeitos a alteração: confirme no site antes de enviar propostas.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Encerramento: convide para a avaliação gratuita e ofereça uma demonstração com um arquivo do fluxo do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1554480" cy="5311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828800"/>
            <a:ext cx="5943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DDB06A"/>
                </a:solidFill>
                <a:latin typeface="Calibri"/>
              </a:rPr>
              <a:t>LEGENDAGEM PROFISSIONAL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5760720" cy="2194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4600" b="0">
                <a:solidFill>
                  <a:srgbClr val="E9ECEF"/>
                </a:solidFill>
                <a:latin typeface="Impact"/>
              </a:rPr>
              <a:t>Do arquivo do</a:t>
            </a:r>
          </a:p>
          <a:p>
            <a:pPr algn="l">
              <a:lnSpc>
                <a:spcPct val="95000"/>
              </a:lnSpc>
            </a:pPr>
            <a:r>
              <a:rPr sz="4600" b="0">
                <a:solidFill>
                  <a:srgbClr val="E9ECEF"/>
                </a:solidFill>
                <a:latin typeface="Impact"/>
              </a:rPr>
              <a:t>cliente à entrega,</a:t>
            </a:r>
          </a:p>
          <a:p>
            <a:pPr algn="l">
              <a:lnSpc>
                <a:spcPct val="95000"/>
              </a:lnSpc>
            </a:pPr>
            <a:r>
              <a:rPr sz="4600" b="0">
                <a:solidFill>
                  <a:srgbClr val="E9ECEF"/>
                </a:solidFill>
                <a:latin typeface="Impact"/>
              </a:rPr>
              <a:t>num só lugar.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26280"/>
            <a:ext cx="530352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A3ADB8"/>
                </a:solidFill>
                <a:latin typeface="Calibri"/>
              </a:rPr>
              <a:t>Traduza, revise, sincronize e confira suas legendas no padrão das grandes plataformas, com a velocidade da inteligência artificial e o controle da sua equipe.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23560"/>
            <a:ext cx="3383280" cy="347472"/>
          </a:xfrm>
          <a:prstGeom prst="roundRect">
            <a:avLst>
              <a:gd name="adj" fmla="val 50000"/>
            </a:avLst>
          </a:prstGeom>
          <a:solidFill>
            <a:srgbClr val="3A3224"/>
          </a:solidFill>
          <a:ln w="12700">
            <a:solidFill>
              <a:srgbClr val="DDB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660136"/>
            <a:ext cx="338328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EBC587"/>
                </a:solidFill>
                <a:latin typeface="Calibri"/>
              </a:rPr>
              <a:t>Aplicativo em constante atualização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562356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3A3224"/>
          </a:solidFill>
          <a:ln w="12700">
            <a:solidFill>
              <a:srgbClr val="DDB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5660136"/>
            <a:ext cx="292608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EBC587"/>
                </a:solidFill>
                <a:latin typeface="Calibri"/>
              </a:rPr>
              <a:t>Avaliação gratuita de 24 horas</a:t>
            </a:r>
          </a:p>
        </p:txBody>
      </p:sp>
      <p:pic>
        <p:nvPicPr>
          <p:cNvPr id="10" name="Picture 9" descr="edit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554480"/>
            <a:ext cx="5212080" cy="3257550"/>
          </a:xfrm>
          <a:prstGeom prst="rect">
            <a:avLst/>
          </a:prstGeom>
          <a:ln w="12700">
            <a:solidFill>
              <a:srgbClr val="3A414B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DDB06A"/>
                </a:solidFill>
                <a:latin typeface="Calibri"/>
              </a:rPr>
              <a:t>O DESAFIO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600" b="0">
                <a:solidFill>
                  <a:srgbClr val="E9ECEF"/>
                </a:solidFill>
                <a:latin typeface="Impact"/>
              </a:rPr>
              <a:t>Legendar bem, rápido e
do jeito de cada cliente.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23160"/>
            <a:ext cx="3520440" cy="228600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3A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87752"/>
            <a:ext cx="9144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0">
                <a:solidFill>
                  <a:srgbClr val="DDB06A"/>
                </a:solidFill>
                <a:latin typeface="Impac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54680"/>
            <a:ext cx="3063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E9ECEF"/>
                </a:solidFill>
                <a:latin typeface="Calibri"/>
              </a:rPr>
              <a:t>Prazo apertado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38728"/>
            <a:ext cx="306324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A3ADB8"/>
                </a:solidFill>
                <a:latin typeface="Calibri"/>
              </a:rPr>
              <a:t>Episódios chegam em lote e o prazo não muda. Cada hora em tarefa repetitiva é uma hora a menos de revisão.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423160"/>
            <a:ext cx="3520440" cy="228600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3A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587752"/>
            <a:ext cx="9144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0">
                <a:solidFill>
                  <a:srgbClr val="DDB06A"/>
                </a:solidFill>
                <a:latin typeface="Impac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154680"/>
            <a:ext cx="3063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E9ECEF"/>
                </a:solidFill>
                <a:latin typeface="Calibri"/>
              </a:rPr>
              <a:t>Regras de cada 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538728"/>
            <a:ext cx="306324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A3ADB8"/>
                </a:solidFill>
                <a:latin typeface="Calibri"/>
              </a:rPr>
              <a:t>Limite de caracteres, velocidade de leitura, pontuação, glossário de nomes. O que vale para um não vale para outro.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423160"/>
            <a:ext cx="3520440" cy="228600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3A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2587752"/>
            <a:ext cx="9144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0">
                <a:solidFill>
                  <a:srgbClr val="DDB06A"/>
                </a:solidFill>
                <a:latin typeface="Impac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3154680"/>
            <a:ext cx="3063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E9ECEF"/>
                </a:solidFill>
                <a:latin typeface="Calibri"/>
              </a:rPr>
              <a:t>Qualidade sem retrabalho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3538728"/>
            <a:ext cx="306324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A3ADB8"/>
                </a:solidFill>
                <a:latin typeface="Calibri"/>
              </a:rPr>
              <a:t>Erro de tempo ou de estilo achado na entrega vira devolução. O ideal é pegar tudo antes de enviar.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83480"/>
            <a:ext cx="10972800" cy="1143000"/>
          </a:xfrm>
          <a:prstGeom prst="roundRect">
            <a:avLst>
              <a:gd name="adj" fmla="val 5000"/>
            </a:avLst>
          </a:prstGeom>
          <a:solidFill>
            <a:srgbClr val="2B261C"/>
          </a:solidFill>
          <a:ln w="12700">
            <a:solidFill>
              <a:srgbClr val="DDB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3017520" cy="9144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600" b="0">
                <a:solidFill>
                  <a:srgbClr val="EBC587"/>
                </a:solidFill>
                <a:latin typeface="Impact"/>
              </a:rPr>
              <a:t>A resposta:</a:t>
            </a:r>
          </a:p>
          <a:p>
            <a:pPr algn="l"/>
            <a:r>
              <a:rPr sz="2600" b="0">
                <a:solidFill>
                  <a:srgbClr val="EBC587"/>
                </a:solidFill>
                <a:latin typeface="Impact"/>
              </a:rPr>
              <a:t>CNT Legendas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120640"/>
            <a:ext cx="7315200" cy="9144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0">
                <a:solidFill>
                  <a:srgbClr val="E9ECEF"/>
                </a:solidFill>
                <a:latin typeface="Calibri"/>
              </a:rPr>
              <a:t>Um programa único: tradução com IA, editor profissional, sincronia pela fala, verificação automática e entrega. Instala em minutos, roda no seu computador e já vem com os padrões de legendagem prontos.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56248"/>
            <a:ext cx="5486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A3ADB8"/>
                </a:solidFill>
                <a:latin typeface="Calibri"/>
              </a:rPr>
              <a:t>CNT Legendas  ·  legendas.cntoficial.com.br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6556248"/>
            <a:ext cx="52120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A3ADB8"/>
                </a:solidFill>
                <a:latin typeface="Calibri"/>
              </a:rPr>
              <a:t>Aplicativo em constante atualização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DDB06A"/>
                </a:solidFill>
                <a:latin typeface="Calibri"/>
              </a:rPr>
              <a:t>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600" b="0">
                <a:solidFill>
                  <a:srgbClr val="E9ECEF"/>
                </a:solidFill>
                <a:latin typeface="Impact"/>
              </a:rPr>
              <a:t>Quatro passos, do início ao fim.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2743200" cy="205740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3A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47672"/>
            <a:ext cx="9144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0">
                <a:solidFill>
                  <a:srgbClr val="DDB06A"/>
                </a:solidFill>
                <a:latin typeface="Impac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2286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E9ECEF"/>
                </a:solidFill>
                <a:latin typeface="Calibri"/>
              </a:rPr>
              <a:t>Arquivos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98648"/>
            <a:ext cx="2286000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A3ADB8"/>
                </a:solidFill>
                <a:latin typeface="Calibri"/>
              </a:rPr>
              <a:t>Escolha a legenda do cliente e o vídeo. Os originais ficam intactos.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783080"/>
            <a:ext cx="2743200" cy="205740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3A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947672"/>
            <a:ext cx="9144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0">
                <a:solidFill>
                  <a:srgbClr val="DDB06A"/>
                </a:solidFill>
                <a:latin typeface="Impac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514600"/>
            <a:ext cx="2286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E9ECEF"/>
                </a:solidFill>
                <a:latin typeface="Calibri"/>
              </a:rPr>
              <a:t>Traduzir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898648"/>
            <a:ext cx="2286000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A3ADB8"/>
                </a:solidFill>
                <a:latin typeface="Calibri"/>
              </a:rPr>
              <a:t>A IA traduz em lotes, com contexto, glossário e regras do cliente.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77639"/>
            <a:ext cx="2743200" cy="205740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3A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1"/>
            <a:ext cx="9144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0">
                <a:solidFill>
                  <a:srgbClr val="DDB06A"/>
                </a:solidFill>
                <a:latin typeface="Impac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09159"/>
            <a:ext cx="2286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E9ECEF"/>
                </a:solidFill>
                <a:latin typeface="Calibri"/>
              </a:rPr>
              <a:t>Revisar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93207"/>
            <a:ext cx="2286000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A3ADB8"/>
                </a:solidFill>
                <a:latin typeface="Calibri"/>
              </a:rPr>
              <a:t>Editor com vídeo, forma de onda e conferência automática.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39" y="3977639"/>
            <a:ext cx="2743200" cy="205740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3A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4142231"/>
            <a:ext cx="9144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0">
                <a:solidFill>
                  <a:srgbClr val="DDB06A"/>
                </a:solidFill>
                <a:latin typeface="Impact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709159"/>
            <a:ext cx="2286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E9ECEF"/>
                </a:solidFill>
                <a:latin typeface="Calibri"/>
              </a:rPr>
              <a:t>Entregar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5093207"/>
            <a:ext cx="2286000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A3ADB8"/>
                </a:solidFill>
                <a:latin typeface="Calibri"/>
              </a:rPr>
              <a:t>Arquivo no formato e no nome que o cliente pede.</a:t>
            </a:r>
          </a:p>
        </p:txBody>
      </p:sp>
      <p:pic>
        <p:nvPicPr>
          <p:cNvPr id="20" name="Picture 19" descr="proje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28800"/>
            <a:ext cx="5212080" cy="3257550"/>
          </a:xfrm>
          <a:prstGeom prst="rect">
            <a:avLst/>
          </a:prstGeom>
          <a:ln w="12700">
            <a:solidFill>
              <a:srgbClr val="3A414B"/>
            </a:solidFill>
          </a:ln>
        </p:spPr>
      </p:pic>
      <p:sp>
        <p:nvSpPr>
          <p:cNvPr id="21" name="Rectangle 2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556248"/>
            <a:ext cx="5486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A3ADB8"/>
                </a:solidFill>
                <a:latin typeface="Calibri"/>
              </a:rPr>
              <a:t>CNT Legendas  ·  legendas.cntoficial.com.br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6556248"/>
            <a:ext cx="52120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A3ADB8"/>
                </a:solidFill>
                <a:latin typeface="Calibri"/>
              </a:rPr>
              <a:t>Aplicativo em constante atualização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DDB06A"/>
                </a:solidFill>
                <a:latin typeface="Calibri"/>
              </a:rPr>
              <a:t>EDITOR PROFISSIONAL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384048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0">
                <a:solidFill>
                  <a:srgbClr val="E9ECEF"/>
                </a:solidFill>
                <a:latin typeface="Impact"/>
              </a:rPr>
              <a:t>Tudo o que a</a:t>
            </a:r>
          </a:p>
          <a:p>
            <a:pPr algn="l">
              <a:lnSpc>
                <a:spcPct val="95000"/>
              </a:lnSpc>
            </a:pPr>
            <a:r>
              <a:rPr sz="3400" b="0">
                <a:solidFill>
                  <a:srgbClr val="E9ECEF"/>
                </a:solidFill>
                <a:latin typeface="Impact"/>
              </a:rPr>
              <a:t>revisão precisa,</a:t>
            </a:r>
          </a:p>
          <a:p>
            <a:pPr algn="l">
              <a:lnSpc>
                <a:spcPct val="95000"/>
              </a:lnSpc>
            </a:pPr>
            <a:r>
              <a:rPr sz="3400" b="0">
                <a:solidFill>
                  <a:srgbClr val="E9ECEF"/>
                </a:solidFill>
                <a:latin typeface="Impact"/>
              </a:rPr>
              <a:t>numa tela.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2798064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274320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9ECEF"/>
                </a:solidFill>
                <a:latin typeface="Calibri"/>
              </a:rPr>
              <a:t>Grade  </a:t>
            </a:r>
            <a:r>
              <a:rPr sz="1400">
                <a:solidFill>
                  <a:srgbClr val="A3ADB8"/>
                </a:solidFill>
                <a:latin typeface="Calibri"/>
              </a:rPr>
              <a:t>com velocidade de leitura em cores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575304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352044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9ECEF"/>
                </a:solidFill>
                <a:latin typeface="Calibri"/>
              </a:rPr>
              <a:t>Vídeo  </a:t>
            </a:r>
            <a:r>
              <a:rPr sz="1400">
                <a:solidFill>
                  <a:srgbClr val="A3ADB8"/>
                </a:solidFill>
                <a:latin typeface="Calibri"/>
              </a:rPr>
              <a:t>com a legenda sobreposta, quadro exato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4352544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429768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9ECEF"/>
                </a:solidFill>
                <a:latin typeface="Calibri"/>
              </a:rPr>
              <a:t>Forma de onda  </a:t>
            </a:r>
            <a:r>
              <a:rPr sz="1400">
                <a:solidFill>
                  <a:srgbClr val="A3ADB8"/>
                </a:solidFill>
                <a:latin typeface="Calibri"/>
              </a:rPr>
              <a:t>para ajustar entradas e saídas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5129783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507492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9ECEF"/>
                </a:solidFill>
                <a:latin typeface="Calibri"/>
              </a:rPr>
              <a:t>Desfazer e histórico  </a:t>
            </a:r>
            <a:r>
              <a:rPr sz="1400">
                <a:solidFill>
                  <a:srgbClr val="A3ADB8"/>
                </a:solidFill>
                <a:latin typeface="Calibri"/>
              </a:rPr>
              <a:t>de versões, localizar, corretor</a:t>
            </a:r>
          </a:p>
        </p:txBody>
      </p:sp>
      <p:pic>
        <p:nvPicPr>
          <p:cNvPr id="12" name="Picture 11" descr="edit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34440"/>
            <a:ext cx="7223760" cy="4514850"/>
          </a:xfrm>
          <a:prstGeom prst="rect">
            <a:avLst/>
          </a:prstGeom>
          <a:ln w="12700">
            <a:solidFill>
              <a:srgbClr val="3A414B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56248"/>
            <a:ext cx="5486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A3ADB8"/>
                </a:solidFill>
                <a:latin typeface="Calibri"/>
              </a:rPr>
              <a:t>CNT Legendas  ·  legendas.cntoficial.com.br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6556248"/>
            <a:ext cx="52120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A3ADB8"/>
                </a:solidFill>
                <a:latin typeface="Calibri"/>
              </a:rPr>
              <a:t>Aplicativo em constante atualização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duzi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6766560" cy="4229100"/>
          </a:xfrm>
          <a:prstGeom prst="rect">
            <a:avLst/>
          </a:prstGeom>
          <a:ln w="12700">
            <a:solidFill>
              <a:srgbClr val="3A414B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7772400" y="731520"/>
            <a:ext cx="38404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DDB06A"/>
                </a:solidFill>
                <a:latin typeface="Calibri"/>
              </a:rPr>
              <a:t>TRADUÇÃO COM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05840"/>
            <a:ext cx="402336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0">
                <a:solidFill>
                  <a:srgbClr val="E9ECEF"/>
                </a:solidFill>
                <a:latin typeface="Impact"/>
              </a:rPr>
              <a:t>Dois jeitos de</a:t>
            </a:r>
          </a:p>
          <a:p>
            <a:pPr algn="l">
              <a:lnSpc>
                <a:spcPct val="95000"/>
              </a:lnSpc>
            </a:pPr>
            <a:r>
              <a:rPr sz="3400" b="0">
                <a:solidFill>
                  <a:srgbClr val="E9ECEF"/>
                </a:solidFill>
                <a:latin typeface="Impact"/>
              </a:rPr>
              <a:t>traduzir, um</a:t>
            </a:r>
          </a:p>
          <a:p>
            <a:pPr algn="l">
              <a:lnSpc>
                <a:spcPct val="95000"/>
              </a:lnSpc>
            </a:pPr>
            <a:r>
              <a:rPr sz="3400" b="0">
                <a:solidFill>
                  <a:srgbClr val="E9ECEF"/>
                </a:solidFill>
                <a:latin typeface="Impact"/>
              </a:rPr>
              <a:t>resultado.</a:t>
            </a:r>
          </a:p>
        </p:txBody>
      </p:sp>
      <p:sp>
        <p:nvSpPr>
          <p:cNvPr id="5" name="Oval 4"/>
          <p:cNvSpPr/>
          <p:nvPr/>
        </p:nvSpPr>
        <p:spPr>
          <a:xfrm>
            <a:off x="7772400" y="2798064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2743200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E9ECEF"/>
                </a:solidFill>
                <a:latin typeface="Calibri"/>
              </a:rPr>
              <a:t>Automática  </a:t>
            </a:r>
            <a:r>
              <a:rPr sz="1350">
                <a:solidFill>
                  <a:srgbClr val="A3ADB8"/>
                </a:solidFill>
                <a:latin typeface="Calibri"/>
              </a:rPr>
              <a:t>lotes com contexto, glossário e limite de caracteres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3666744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3611880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E9ECEF"/>
                </a:solidFill>
                <a:latin typeface="Calibri"/>
              </a:rPr>
              <a:t>Sem API  </a:t>
            </a:r>
            <a:r>
              <a:rPr sz="1350">
                <a:solidFill>
                  <a:srgbClr val="A3ADB8"/>
                </a:solidFill>
                <a:latin typeface="Calibri"/>
              </a:rPr>
              <a:t>pelo seu assistente de IA, com copiar e colar guiado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4535424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4480560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E9ECEF"/>
                </a:solidFill>
                <a:latin typeface="Calibri"/>
              </a:rPr>
              <a:t>Revisão  </a:t>
            </a:r>
            <a:r>
              <a:rPr sz="1350">
                <a:solidFill>
                  <a:srgbClr val="A3ADB8"/>
                </a:solidFill>
                <a:latin typeface="Calibri"/>
              </a:rPr>
              <a:t>ortografia, gramática e velocidade de leitura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5404103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5349240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E9ECEF"/>
                </a:solidFill>
                <a:latin typeface="Calibri"/>
              </a:rPr>
              <a:t>Seguro  </a:t>
            </a:r>
            <a:r>
              <a:rPr sz="1350">
                <a:solidFill>
                  <a:srgbClr val="A3ADB8"/>
                </a:solidFill>
                <a:latin typeface="Calibri"/>
              </a:rPr>
              <a:t>a origem nunca é alterada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56248"/>
            <a:ext cx="5486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A3ADB8"/>
                </a:solidFill>
                <a:latin typeface="Calibri"/>
              </a:rPr>
              <a:t>CNT Legendas  ·  legendas.cntoficial.com.br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6556248"/>
            <a:ext cx="52120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A3ADB8"/>
                </a:solidFill>
                <a:latin typeface="Calibri"/>
              </a:rPr>
              <a:t>Aplicativo em constante atualização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DDB06A"/>
                </a:solidFill>
                <a:latin typeface="Calibri"/>
              </a:rPr>
              <a:t>SINCRONIA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384048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0">
                <a:solidFill>
                  <a:srgbClr val="E9ECEF"/>
                </a:solidFill>
                <a:latin typeface="Impact"/>
              </a:rPr>
              <a:t>Tempo certo,</a:t>
            </a:r>
          </a:p>
          <a:p>
            <a:pPr algn="l">
              <a:lnSpc>
                <a:spcPct val="95000"/>
              </a:lnSpc>
            </a:pPr>
            <a:r>
              <a:rPr sz="3400" b="0">
                <a:solidFill>
                  <a:srgbClr val="E9ECEF"/>
                </a:solidFill>
                <a:latin typeface="Impact"/>
              </a:rPr>
              <a:t>na fala certa.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2432304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2377440"/>
            <a:ext cx="3337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E9ECEF"/>
                </a:solidFill>
                <a:latin typeface="Calibri"/>
              </a:rPr>
              <a:t>Pela fala  </a:t>
            </a:r>
            <a:r>
              <a:rPr sz="1350">
                <a:solidFill>
                  <a:srgbClr val="A3ADB8"/>
                </a:solidFill>
                <a:latin typeface="Calibri"/>
              </a:rPr>
              <a:t>separa a voz da música e do ruído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145536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3090672"/>
            <a:ext cx="3337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E9ECEF"/>
                </a:solidFill>
                <a:latin typeface="Calibri"/>
              </a:rPr>
              <a:t>Por referência  </a:t>
            </a:r>
            <a:r>
              <a:rPr sz="1350">
                <a:solidFill>
                  <a:srgbClr val="A3ADB8"/>
                </a:solidFill>
                <a:latin typeface="Calibri"/>
              </a:rPr>
              <a:t>outra legenda, mesmo em outro idioma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858768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3803904"/>
            <a:ext cx="3337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E9ECEF"/>
                </a:solidFill>
                <a:latin typeface="Calibri"/>
              </a:rPr>
              <a:t>Ajustes  </a:t>
            </a:r>
            <a:r>
              <a:rPr sz="1350">
                <a:solidFill>
                  <a:srgbClr val="A3ADB8"/>
                </a:solidFill>
                <a:latin typeface="Calibri"/>
              </a:rPr>
              <a:t>atrasar, dois pontos, quadros por segundo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571999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4517136"/>
            <a:ext cx="3337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E9ECEF"/>
                </a:solidFill>
                <a:latin typeface="Calibri"/>
              </a:rPr>
              <a:t>Cortes de cena  </a:t>
            </a:r>
            <a:r>
              <a:rPr sz="1350">
                <a:solidFill>
                  <a:srgbClr val="A3ADB8"/>
                </a:solidFill>
                <a:latin typeface="Calibri"/>
              </a:rPr>
              <a:t>detectados e respeitados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5285232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19" y="5230368"/>
            <a:ext cx="3337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E9ECEF"/>
                </a:solidFill>
                <a:latin typeface="Calibri"/>
              </a:rPr>
              <a:t>Roteiro  </a:t>
            </a:r>
            <a:r>
              <a:rPr sz="1350">
                <a:solidFill>
                  <a:srgbClr val="A3ADB8"/>
                </a:solidFill>
                <a:latin typeface="Calibri"/>
              </a:rPr>
              <a:t>texto sem tempo vira legenda</a:t>
            </a:r>
          </a:p>
        </p:txBody>
      </p:sp>
      <p:pic>
        <p:nvPicPr>
          <p:cNvPr id="14" name="Picture 13" descr="sincroniz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34440"/>
            <a:ext cx="7223760" cy="4514850"/>
          </a:xfrm>
          <a:prstGeom prst="rect">
            <a:avLst/>
          </a:prstGeom>
          <a:ln w="12700">
            <a:solidFill>
              <a:srgbClr val="3A414B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56248"/>
            <a:ext cx="5486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A3ADB8"/>
                </a:solidFill>
                <a:latin typeface="Calibri"/>
              </a:rPr>
              <a:t>CNT Legendas  ·  legendas.cntoficial.com.br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6556248"/>
            <a:ext cx="52120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A3ADB8"/>
                </a:solidFill>
                <a:latin typeface="Calibri"/>
              </a:rPr>
              <a:t>Aplicativo em constante atualização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erific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6766560" cy="4229100"/>
          </a:xfrm>
          <a:prstGeom prst="rect">
            <a:avLst/>
          </a:prstGeom>
          <a:ln w="12700">
            <a:solidFill>
              <a:srgbClr val="3A414B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7772400" y="731520"/>
            <a:ext cx="38404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DDB06A"/>
                </a:solidFill>
                <a:latin typeface="Calibri"/>
              </a:rPr>
              <a:t>QUALIDADE E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05840"/>
            <a:ext cx="402336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0">
                <a:solidFill>
                  <a:srgbClr val="E9ECEF"/>
                </a:solidFill>
                <a:latin typeface="Impact"/>
              </a:rPr>
              <a:t>Confira antes</a:t>
            </a:r>
          </a:p>
          <a:p>
            <a:pPr algn="l">
              <a:lnSpc>
                <a:spcPct val="95000"/>
              </a:lnSpc>
            </a:pPr>
            <a:r>
              <a:rPr sz="3400" b="0">
                <a:solidFill>
                  <a:srgbClr val="E9ECEF"/>
                </a:solidFill>
                <a:latin typeface="Impact"/>
              </a:rPr>
              <a:t>de enviar.</a:t>
            </a:r>
          </a:p>
        </p:txBody>
      </p:sp>
      <p:sp>
        <p:nvSpPr>
          <p:cNvPr id="5" name="Oval 4"/>
          <p:cNvSpPr/>
          <p:nvPr/>
        </p:nvSpPr>
        <p:spPr>
          <a:xfrm>
            <a:off x="7772400" y="2432304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237744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E9ECEF"/>
                </a:solidFill>
                <a:latin typeface="Calibri"/>
              </a:rPr>
              <a:t>Verificar  </a:t>
            </a:r>
            <a:r>
              <a:rPr sz="1350">
                <a:solidFill>
                  <a:srgbClr val="A3ADB8"/>
                </a:solidFill>
                <a:latin typeface="Calibri"/>
              </a:rPr>
              <a:t>leitura, duração, intervalo, linhas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3255264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320040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E9ECEF"/>
                </a:solidFill>
                <a:latin typeface="Calibri"/>
              </a:rPr>
              <a:t>Corrigir  </a:t>
            </a:r>
            <a:r>
              <a:rPr sz="1350">
                <a:solidFill>
                  <a:srgbClr val="A3ADB8"/>
                </a:solidFill>
                <a:latin typeface="Calibri"/>
              </a:rPr>
              <a:t>ajuste automático de tempos e estilo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4078224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40233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E9ECEF"/>
                </a:solidFill>
                <a:latin typeface="Calibri"/>
              </a:rPr>
              <a:t>Entregar  </a:t>
            </a:r>
            <a:r>
              <a:rPr sz="1350">
                <a:solidFill>
                  <a:srgbClr val="A3ADB8"/>
                </a:solidFill>
                <a:latin typeface="Calibri"/>
              </a:rPr>
              <a:t>.srt, .vtt, .ttml ou .ass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4901184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484632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E9ECEF"/>
                </a:solidFill>
                <a:latin typeface="Calibri"/>
              </a:rPr>
              <a:t>Relatório  </a:t>
            </a:r>
            <a:r>
              <a:rPr sz="1350">
                <a:solidFill>
                  <a:srgbClr val="A3ADB8"/>
                </a:solidFill>
                <a:latin typeface="Calibri"/>
              </a:rPr>
              <a:t>arquivo de verificação opcional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56248"/>
            <a:ext cx="5486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A3ADB8"/>
                </a:solidFill>
                <a:latin typeface="Calibri"/>
              </a:rPr>
              <a:t>CNT Legendas  ·  legendas.cntoficial.com.br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6556248"/>
            <a:ext cx="52120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A3ADB8"/>
                </a:solidFill>
                <a:latin typeface="Calibri"/>
              </a:rPr>
              <a:t>Aplicativo em constante atualização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DDB06A"/>
                </a:solidFill>
                <a:latin typeface="Calibri"/>
              </a:rPr>
              <a:t>PARA EQUIPES E EMPRESAS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206240" cy="1645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0">
                <a:solidFill>
                  <a:srgbClr val="E9ECEF"/>
                </a:solidFill>
                <a:latin typeface="Impact"/>
              </a:rPr>
              <a:t>Visão de quem</a:t>
            </a:r>
          </a:p>
          <a:p>
            <a:pPr algn="l">
              <a:lnSpc>
                <a:spcPct val="95000"/>
              </a:lnSpc>
            </a:pPr>
            <a:r>
              <a:rPr sz="3400" b="0">
                <a:solidFill>
                  <a:srgbClr val="E9ECEF"/>
                </a:solidFill>
                <a:latin typeface="Impact"/>
              </a:rPr>
              <a:t>produz e de quem</a:t>
            </a:r>
          </a:p>
          <a:p>
            <a:pPr algn="l">
              <a:lnSpc>
                <a:spcPct val="95000"/>
              </a:lnSpc>
            </a:pPr>
            <a:r>
              <a:rPr sz="3400" b="0">
                <a:solidFill>
                  <a:srgbClr val="E9ECEF"/>
                </a:solidFill>
                <a:latin typeface="Impact"/>
              </a:rPr>
              <a:t>gerencia.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2889504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2834640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E9ECEF"/>
                </a:solidFill>
                <a:latin typeface="Calibri"/>
              </a:rPr>
              <a:t>Clientes  </a:t>
            </a:r>
            <a:r>
              <a:rPr sz="1350">
                <a:solidFill>
                  <a:srgbClr val="A3ADB8"/>
                </a:solidFill>
                <a:latin typeface="Calibri"/>
              </a:rPr>
              <a:t>com glossário e regras próprios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575304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3520440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E9ECEF"/>
                </a:solidFill>
                <a:latin typeface="Calibri"/>
              </a:rPr>
              <a:t>Glossário  </a:t>
            </a:r>
            <a:r>
              <a:rPr sz="1350">
                <a:solidFill>
                  <a:srgbClr val="A3ADB8"/>
                </a:solidFill>
                <a:latin typeface="Calibri"/>
              </a:rPr>
              <a:t>geral, do cliente e do projeto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4261103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4206240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E9ECEF"/>
                </a:solidFill>
                <a:latin typeface="Calibri"/>
              </a:rPr>
              <a:t>Relatórios  </a:t>
            </a:r>
            <a:r>
              <a:rPr sz="1350">
                <a:solidFill>
                  <a:srgbClr val="A3ADB8"/>
                </a:solidFill>
                <a:latin typeface="Calibri"/>
              </a:rPr>
              <a:t>produção, tempo e produtividade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946903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4892040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E9ECEF"/>
                </a:solidFill>
                <a:latin typeface="Calibri"/>
              </a:rPr>
              <a:t>Prazos  </a:t>
            </a:r>
            <a:r>
              <a:rPr sz="1350">
                <a:solidFill>
                  <a:srgbClr val="A3ADB8"/>
                </a:solidFill>
                <a:latin typeface="Calibri"/>
              </a:rPr>
              <a:t>de entrega por episódio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5632703"/>
            <a:ext cx="182880" cy="182880"/>
          </a:xfrm>
          <a:prstGeom prst="ellipse">
            <a:avLst/>
          </a:prstGeom>
          <a:solidFill>
            <a:srgbClr val="DD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19" y="5577840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E9ECEF"/>
                </a:solidFill>
                <a:latin typeface="Calibri"/>
              </a:rPr>
              <a:t>Workspace  </a:t>
            </a:r>
            <a:r>
              <a:rPr sz="1350">
                <a:solidFill>
                  <a:srgbClr val="A3ADB8"/>
                </a:solidFill>
                <a:latin typeface="Calibri"/>
              </a:rPr>
              <a:t>da empresa (Business e Enterprise)</a:t>
            </a:r>
          </a:p>
        </p:txBody>
      </p:sp>
      <p:pic>
        <p:nvPicPr>
          <p:cNvPr id="14" name="Picture 13" descr="relatori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34440"/>
            <a:ext cx="6858000" cy="4286250"/>
          </a:xfrm>
          <a:prstGeom prst="rect">
            <a:avLst/>
          </a:prstGeom>
          <a:ln w="12700">
            <a:solidFill>
              <a:srgbClr val="3A414B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56248"/>
            <a:ext cx="5486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A3ADB8"/>
                </a:solidFill>
                <a:latin typeface="Calibri"/>
              </a:rPr>
              <a:t>CNT Legendas  ·  legendas.cntoficial.com.br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6556248"/>
            <a:ext cx="52120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A3ADB8"/>
                </a:solidFill>
                <a:latin typeface="Calibri"/>
              </a:rPr>
              <a:t>Aplicativo em constante atualização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DDB06A"/>
                </a:solidFill>
                <a:latin typeface="Calibri"/>
              </a:rPr>
              <a:t>ALÉM DA LEGENDA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600" b="0">
                <a:solidFill>
                  <a:srgbClr val="E9ECEF"/>
                </a:solidFill>
                <a:latin typeface="Impact"/>
              </a:rPr>
              <a:t>Acessibilidade no mesmo programa.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3A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3063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E9ECEF"/>
                </a:solidFill>
                <a:latin typeface="Calibri"/>
              </a:rPr>
              <a:t>Legenda ao 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04288"/>
            <a:ext cx="306324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A3ADB8"/>
                </a:solidFill>
                <a:latin typeface="Calibri"/>
              </a:rPr>
              <a:t>Gera a legenda na hora, com fila para correção, saída para o programa de transmissão e tradução ao vivo.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3A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3063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E9ECEF"/>
                </a:solidFill>
                <a:latin typeface="Calibri"/>
              </a:rPr>
              <a:t>Audiodescrição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04288"/>
            <a:ext cx="306324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A3ADB8"/>
                </a:solidFill>
                <a:latin typeface="Calibri"/>
              </a:rPr>
              <a:t>Acha espaços sem fala, sugere descrições com IA, ouve com voz do sistema ou gravada, e exporta roteiro e áudio.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737360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3A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920240"/>
            <a:ext cx="3063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E9ECEF"/>
                </a:solidFill>
                <a:latin typeface="Calibri"/>
              </a:rPr>
              <a:t>Vídeo sem legenda?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304288"/>
            <a:ext cx="306324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A3ADB8"/>
                </a:solidFill>
                <a:latin typeface="Calibri"/>
              </a:rPr>
              <a:t>Transcrição no computador, sem custo, com detecção automática do idioma.</a:t>
            </a:r>
          </a:p>
        </p:txBody>
      </p:sp>
      <p:pic>
        <p:nvPicPr>
          <p:cNvPr id="13" name="Picture 12" descr="ao-viv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28" y="3703320"/>
            <a:ext cx="4206240" cy="2628900"/>
          </a:xfrm>
          <a:prstGeom prst="rect">
            <a:avLst/>
          </a:prstGeom>
          <a:ln w="12700">
            <a:solidFill>
              <a:srgbClr val="3A414B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56248"/>
            <a:ext cx="5486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A3ADB8"/>
                </a:solidFill>
                <a:latin typeface="Calibri"/>
              </a:rPr>
              <a:t>CNT Legendas  ·  legendas.cntoficial.com.br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6556248"/>
            <a:ext cx="52120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A3ADB8"/>
                </a:solidFill>
                <a:latin typeface="Calibri"/>
              </a:rPr>
              <a:t>Aplicativo em constante atualização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DDB06A"/>
                </a:solidFill>
                <a:latin typeface="Calibri"/>
              </a:rPr>
              <a:t>SEGURANÇA E PRIVACIDADE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600" b="0">
                <a:solidFill>
                  <a:srgbClr val="E9ECEF"/>
                </a:solidFill>
                <a:latin typeface="Impact"/>
              </a:rPr>
              <a:t>Seu trabalho é seu.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94960" cy="192024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3A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937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E9ECEF"/>
                </a:solidFill>
                <a:latin typeface="Calibri"/>
              </a:rPr>
              <a:t>Roda no seu computador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50008"/>
            <a:ext cx="493776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A3ADB8"/>
                </a:solidFill>
                <a:latin typeface="Calibri"/>
              </a:rPr>
              <a:t>Vídeos e legendas ficam na sua máquina. Na tradução com IA, só o texto das legendas vai ao serviço que você escolher.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394960" cy="192024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3A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4937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E9ECEF"/>
                </a:solidFill>
                <a:latin typeface="Calibri"/>
              </a:rPr>
              <a:t>Chaves protegidas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50008"/>
            <a:ext cx="493776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A3ADB8"/>
                </a:solidFill>
                <a:latin typeface="Calibri"/>
              </a:rPr>
              <a:t>A chave da IA fica no cofre de senhas do computador, nunca em arquivo de texto.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5394960" cy="192024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3A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14800"/>
            <a:ext cx="4937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E9ECEF"/>
                </a:solidFill>
                <a:latin typeface="Calibri"/>
              </a:rPr>
              <a:t>Originais intocados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98848"/>
            <a:ext cx="493776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A3ADB8"/>
                </a:solidFill>
                <a:latin typeface="Calibri"/>
              </a:rPr>
              <a:t>O programa nunca altera nem apaga seus arquivos. Resultados saem ao lado do original.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394960" cy="192024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3A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114800"/>
            <a:ext cx="4937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E9ECEF"/>
                </a:solidFill>
                <a:latin typeface="Calibri"/>
              </a:rPr>
              <a:t>Licença e LGPD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498848"/>
            <a:ext cx="493776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A3ADB8"/>
                </a:solidFill>
                <a:latin typeface="Calibri"/>
              </a:rPr>
              <a:t>Licença assinada, ligada ao computador. Termos e política de privacidade publicados.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556248"/>
            <a:ext cx="5486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A3ADB8"/>
                </a:solidFill>
                <a:latin typeface="Calibri"/>
              </a:rPr>
              <a:t>CNT Legendas  ·  legendas.cntoficial.com.br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6556248"/>
            <a:ext cx="52120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A3ADB8"/>
                </a:solidFill>
                <a:latin typeface="Calibri"/>
              </a:rPr>
              <a:t>Aplicativo em constante atualização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9436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3A3224"/>
          </a:solidFill>
          <a:ln w="12700">
            <a:solidFill>
              <a:srgbClr val="DDB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30936"/>
            <a:ext cx="274320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EBC587"/>
                </a:solidFill>
                <a:latin typeface="Calibri"/>
              </a:rPr>
              <a:t>Em constante atualização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669280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0">
                <a:solidFill>
                  <a:srgbClr val="E9ECEF"/>
                </a:solidFill>
                <a:latin typeface="Impact"/>
              </a:rPr>
              <a:t>Um aplicativo que</a:t>
            </a:r>
          </a:p>
          <a:p>
            <a:pPr algn="l">
              <a:lnSpc>
                <a:spcPct val="95000"/>
              </a:lnSpc>
            </a:pPr>
            <a:r>
              <a:rPr sz="3600" b="0">
                <a:solidFill>
                  <a:srgbClr val="E9ECEF"/>
                </a:solidFill>
                <a:latin typeface="Impact"/>
              </a:rPr>
              <a:t>não para de evoluir.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530352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>
                <a:solidFill>
                  <a:srgbClr val="A3ADB8"/>
                </a:solidFill>
                <a:latin typeface="Calibri"/>
              </a:rPr>
              <a:t>O CNT Legendas é desenvolvido em contato direto com quem legenda no dia a dia. Ao abrir, ele procura a versão mais nova e se atualiza sozinho, sem instalador e sem perder seu trabalho, mostrando o que mudou.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97680"/>
            <a:ext cx="1737360" cy="118872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3A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370832"/>
            <a:ext cx="17373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3000" b="0">
                <a:solidFill>
                  <a:srgbClr val="DDB06A"/>
                </a:solidFill>
                <a:latin typeface="Impact"/>
              </a:rPr>
              <a:t>2.24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7373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200" b="0">
                <a:solidFill>
                  <a:srgbClr val="A3ADB8"/>
                </a:solidFill>
                <a:latin typeface="Calibri"/>
              </a:rPr>
              <a:t>versão atual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4297680"/>
            <a:ext cx="1737360" cy="118872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3A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4370832"/>
            <a:ext cx="17373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3000" b="0">
                <a:solidFill>
                  <a:srgbClr val="DDB06A"/>
                </a:solidFill>
                <a:latin typeface="Impact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5029200"/>
            <a:ext cx="17373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200" b="0">
                <a:solidFill>
                  <a:srgbClr val="A3ADB8"/>
                </a:solidFill>
                <a:latin typeface="Calibri"/>
              </a:rPr>
              <a:t>idiomas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297680"/>
            <a:ext cx="1737360" cy="118872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3A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370832"/>
            <a:ext cx="17373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3000" b="0">
                <a:solidFill>
                  <a:srgbClr val="DDB06A"/>
                </a:solidFill>
                <a:latin typeface="Impac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5029200"/>
            <a:ext cx="17373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200" b="0">
                <a:solidFill>
                  <a:srgbClr val="A3ADB8"/>
                </a:solidFill>
                <a:latin typeface="Calibri"/>
              </a:rPr>
              <a:t>sistemas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54864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A3ADB8"/>
                </a:solidFill>
                <a:latin typeface="Calibri"/>
              </a:rPr>
              <a:t>Windows, Mac e Linux.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777240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DDB06A"/>
                </a:solidFill>
                <a:latin typeface="Calibri"/>
              </a:rPr>
              <a:t>EVOLUÇÕES RECENTES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1325880"/>
            <a:ext cx="182880" cy="182880"/>
          </a:xfrm>
          <a:prstGeom prst="ellipse">
            <a:avLst/>
          </a:prstGeom>
          <a:solidFill>
            <a:srgbClr val="16191D"/>
          </a:solidFill>
          <a:ln w="25400">
            <a:solidFill>
              <a:srgbClr val="DDB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234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DB06A"/>
                </a:solidFill>
                <a:latin typeface="Calibri"/>
              </a:rPr>
              <a:t>2.24  </a:t>
            </a:r>
            <a:r>
              <a:rPr sz="1400">
                <a:solidFill>
                  <a:srgbClr val="E9ECEF"/>
                </a:solidFill>
                <a:latin typeface="Calibri"/>
              </a:rPr>
              <a:t>Atualização passo a passo ao abrir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0" y="1947672"/>
            <a:ext cx="182880" cy="182880"/>
          </a:xfrm>
          <a:prstGeom prst="ellipse">
            <a:avLst/>
          </a:prstGeom>
          <a:solidFill>
            <a:srgbClr val="16191D"/>
          </a:solidFill>
          <a:ln w="25400">
            <a:solidFill>
              <a:srgbClr val="DDB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85623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DB06A"/>
                </a:solidFill>
                <a:latin typeface="Calibri"/>
              </a:rPr>
              <a:t>2.21  </a:t>
            </a:r>
            <a:r>
              <a:rPr sz="1400">
                <a:solidFill>
                  <a:srgbClr val="E9ECEF"/>
                </a:solidFill>
                <a:latin typeface="Calibri"/>
              </a:rPr>
              <a:t>Legenda ao vivo e audiodescrição em todos os planos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2569464"/>
            <a:ext cx="182880" cy="182880"/>
          </a:xfrm>
          <a:prstGeom prst="ellipse">
            <a:avLst/>
          </a:prstGeom>
          <a:solidFill>
            <a:srgbClr val="16191D"/>
          </a:solidFill>
          <a:ln w="25400">
            <a:solidFill>
              <a:srgbClr val="DDB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2478024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DB06A"/>
                </a:solidFill>
                <a:latin typeface="Calibri"/>
              </a:rPr>
              <a:t>2.20  </a:t>
            </a:r>
            <a:r>
              <a:rPr sz="1400">
                <a:solidFill>
                  <a:srgbClr val="E9ECEF"/>
                </a:solidFill>
                <a:latin typeface="Calibri"/>
              </a:rPr>
              <a:t>Tradução ao vivo e audiodescrição com a própria voz</a:t>
            </a:r>
          </a:p>
        </p:txBody>
      </p:sp>
      <p:sp>
        <p:nvSpPr>
          <p:cNvPr id="23" name="Oval 22"/>
          <p:cNvSpPr/>
          <p:nvPr/>
        </p:nvSpPr>
        <p:spPr>
          <a:xfrm>
            <a:off x="6766560" y="3191256"/>
            <a:ext cx="182880" cy="182880"/>
          </a:xfrm>
          <a:prstGeom prst="ellipse">
            <a:avLst/>
          </a:prstGeom>
          <a:solidFill>
            <a:srgbClr val="16191D"/>
          </a:solidFill>
          <a:ln w="25400">
            <a:solidFill>
              <a:srgbClr val="DDB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30998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DB06A"/>
                </a:solidFill>
                <a:latin typeface="Calibri"/>
              </a:rPr>
              <a:t>2.19  </a:t>
            </a:r>
            <a:r>
              <a:rPr sz="1400">
                <a:solidFill>
                  <a:srgbClr val="E9ECEF"/>
                </a:solidFill>
                <a:latin typeface="Calibri"/>
              </a:rPr>
              <a:t>Audiodescrição no editor</a:t>
            </a:r>
          </a:p>
        </p:txBody>
      </p:sp>
      <p:sp>
        <p:nvSpPr>
          <p:cNvPr id="25" name="Oval 24"/>
          <p:cNvSpPr/>
          <p:nvPr/>
        </p:nvSpPr>
        <p:spPr>
          <a:xfrm>
            <a:off x="6766560" y="3813048"/>
            <a:ext cx="182880" cy="182880"/>
          </a:xfrm>
          <a:prstGeom prst="ellipse">
            <a:avLst/>
          </a:prstGeom>
          <a:solidFill>
            <a:srgbClr val="16191D"/>
          </a:solidFill>
          <a:ln w="25400">
            <a:solidFill>
              <a:srgbClr val="DDB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372160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DB06A"/>
                </a:solidFill>
                <a:latin typeface="Calibri"/>
              </a:rPr>
              <a:t>2.18  </a:t>
            </a:r>
            <a:r>
              <a:rPr sz="1400">
                <a:solidFill>
                  <a:srgbClr val="E9ECEF"/>
                </a:solidFill>
                <a:latin typeface="Calibri"/>
              </a:rPr>
              <a:t>Legenda ao vivo para transmissões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0" y="4434840"/>
            <a:ext cx="182880" cy="182880"/>
          </a:xfrm>
          <a:prstGeom prst="ellipse">
            <a:avLst/>
          </a:prstGeom>
          <a:solidFill>
            <a:srgbClr val="16191D"/>
          </a:solidFill>
          <a:ln w="25400">
            <a:solidFill>
              <a:srgbClr val="DDB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4343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DB06A"/>
                </a:solidFill>
                <a:latin typeface="Calibri"/>
              </a:rPr>
              <a:t>2.17  </a:t>
            </a:r>
            <a:r>
              <a:rPr sz="1400">
                <a:solidFill>
                  <a:srgbClr val="E9ECEF"/>
                </a:solidFill>
                <a:latin typeface="Calibri"/>
              </a:rPr>
              <a:t>Mac e Linux</a:t>
            </a:r>
          </a:p>
        </p:txBody>
      </p:sp>
      <p:sp>
        <p:nvSpPr>
          <p:cNvPr id="29" name="Oval 28"/>
          <p:cNvSpPr/>
          <p:nvPr/>
        </p:nvSpPr>
        <p:spPr>
          <a:xfrm>
            <a:off x="6766560" y="5056631"/>
            <a:ext cx="182880" cy="182880"/>
          </a:xfrm>
          <a:prstGeom prst="ellipse">
            <a:avLst/>
          </a:prstGeom>
          <a:solidFill>
            <a:srgbClr val="16191D"/>
          </a:solidFill>
          <a:ln w="25400">
            <a:solidFill>
              <a:srgbClr val="DDB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496519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DB06A"/>
                </a:solidFill>
                <a:latin typeface="Calibri"/>
              </a:rPr>
              <a:t>2.16  </a:t>
            </a:r>
            <a:r>
              <a:rPr sz="1400">
                <a:solidFill>
                  <a:srgbClr val="E9ECEF"/>
                </a:solidFill>
                <a:latin typeface="Calibri"/>
              </a:rPr>
              <a:t>Status da conexão e diagnóstico</a:t>
            </a:r>
          </a:p>
        </p:txBody>
      </p:sp>
      <p:sp>
        <p:nvSpPr>
          <p:cNvPr id="31" name="Oval 30"/>
          <p:cNvSpPr/>
          <p:nvPr/>
        </p:nvSpPr>
        <p:spPr>
          <a:xfrm>
            <a:off x="6766560" y="5678424"/>
            <a:ext cx="182880" cy="182880"/>
          </a:xfrm>
          <a:prstGeom prst="ellipse">
            <a:avLst/>
          </a:prstGeom>
          <a:solidFill>
            <a:srgbClr val="16191D"/>
          </a:solidFill>
          <a:ln w="25400">
            <a:solidFill>
              <a:srgbClr val="DDB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5586984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DB06A"/>
                </a:solidFill>
                <a:latin typeface="Calibri"/>
              </a:rPr>
              <a:t>2.15  </a:t>
            </a:r>
            <a:r>
              <a:rPr sz="1400">
                <a:solidFill>
                  <a:srgbClr val="E9ECEF"/>
                </a:solidFill>
                <a:latin typeface="Calibri"/>
              </a:rPr>
              <a:t>Formatos de entrega, prazos, histórico de versões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556248"/>
            <a:ext cx="5486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A3ADB8"/>
                </a:solidFill>
                <a:latin typeface="Calibri"/>
              </a:rPr>
              <a:t>CNT Legendas  ·  legendas.cntoficial.com.br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6556248"/>
            <a:ext cx="52120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A3ADB8"/>
                </a:solidFill>
                <a:latin typeface="Calibri"/>
              </a:rPr>
              <a:t>Aplicativo em constante atualização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DDB06A"/>
                </a:solidFill>
                <a:latin typeface="Calibri"/>
              </a:rPr>
              <a:t>PLANOS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600" b="0">
                <a:solidFill>
                  <a:srgbClr val="E9ECEF"/>
                </a:solidFill>
                <a:latin typeface="Impact"/>
              </a:rPr>
              <a:t>Todas as funções em todos os planos.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520440" cy="356616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3A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30175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E9ECEF"/>
                </a:solidFill>
                <a:latin typeface="Calibri"/>
              </a:rPr>
              <a:t>Individual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0">
                <a:solidFill>
                  <a:srgbClr val="DDB06A"/>
                </a:solidFill>
                <a:latin typeface="Impact"/>
              </a:rPr>
              <a:t>R$ 49,90/mês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0175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A3ADB8"/>
                </a:solidFill>
                <a:latin typeface="Calibri"/>
              </a:rPr>
              <a:t>Para quem trabalha sozinho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DDB06A"/>
                </a:solidFill>
                <a:latin typeface="Calibri"/>
              </a:rPr>
              <a:t>✓  </a:t>
            </a:r>
            <a:r>
              <a:rPr sz="1300">
                <a:solidFill>
                  <a:srgbClr val="E9ECEF"/>
                </a:solidFill>
                <a:latin typeface="Calibri"/>
              </a:rPr>
              <a:t>1 computador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DDB06A"/>
                </a:solidFill>
                <a:latin typeface="Calibri"/>
              </a:rPr>
              <a:t>✓  </a:t>
            </a:r>
            <a:r>
              <a:rPr sz="1300">
                <a:solidFill>
                  <a:srgbClr val="E9ECEF"/>
                </a:solidFill>
                <a:latin typeface="Calibri"/>
              </a:rPr>
              <a:t>Todas as funções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DDB06A"/>
                </a:solidFill>
                <a:latin typeface="Calibri"/>
              </a:rPr>
              <a:t>✓  </a:t>
            </a:r>
            <a:r>
              <a:rPr sz="1300">
                <a:solidFill>
                  <a:srgbClr val="E9ECEF"/>
                </a:solidFill>
                <a:latin typeface="Calibri"/>
              </a:rPr>
              <a:t>Atualizações incluídas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520440" cy="3566160"/>
          </a:xfrm>
          <a:prstGeom prst="roundRect">
            <a:avLst>
              <a:gd name="adj" fmla="val 5000"/>
            </a:avLst>
          </a:prstGeom>
          <a:solidFill>
            <a:srgbClr val="2B261C"/>
          </a:solidFill>
          <a:ln w="12700">
            <a:solidFill>
              <a:srgbClr val="DDB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30175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E9ECEF"/>
                </a:solidFill>
                <a:latin typeface="Calibri"/>
              </a:rPr>
              <a:t>Teamwork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3172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0">
                <a:solidFill>
                  <a:srgbClr val="DDB06A"/>
                </a:solidFill>
                <a:latin typeface="Impact"/>
              </a:rPr>
              <a:t>R$ 49,90/mês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017520"/>
            <a:ext cx="30175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A3ADB8"/>
                </a:solidFill>
                <a:latin typeface="Calibri"/>
              </a:rPr>
              <a:t>+ R$ 29,90 por computador adicional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DDB06A"/>
                </a:solidFill>
                <a:latin typeface="Calibri"/>
              </a:rPr>
              <a:t>✓  </a:t>
            </a:r>
            <a:r>
              <a:rPr sz="1300">
                <a:solidFill>
                  <a:srgbClr val="E9ECEF"/>
                </a:solidFill>
                <a:latin typeface="Calibri"/>
              </a:rPr>
              <a:t>2 ou mais computadores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97763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DDB06A"/>
                </a:solidFill>
                <a:latin typeface="Calibri"/>
              </a:rPr>
              <a:t>✓  </a:t>
            </a:r>
            <a:r>
              <a:rPr sz="1300">
                <a:solidFill>
                  <a:srgbClr val="E9ECEF"/>
                </a:solidFill>
                <a:latin typeface="Calibri"/>
              </a:rPr>
              <a:t>Todas as funções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DDB06A"/>
                </a:solidFill>
                <a:latin typeface="Calibri"/>
              </a:rPr>
              <a:t>✓  </a:t>
            </a:r>
            <a:r>
              <a:rPr sz="1300">
                <a:solidFill>
                  <a:srgbClr val="E9ECEF"/>
                </a:solidFill>
                <a:latin typeface="Calibri"/>
              </a:rPr>
              <a:t>Área do cliente com licenças e produção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1737360"/>
            <a:ext cx="3520440" cy="356616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3A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920240"/>
            <a:ext cx="30175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E9ECEF"/>
                </a:solidFill>
                <a:latin typeface="Calibri"/>
              </a:rPr>
              <a:t>Business / 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33172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0">
                <a:solidFill>
                  <a:srgbClr val="DDB06A"/>
                </a:solidFill>
                <a:latin typeface="Impact"/>
              </a:rPr>
              <a:t>Sob cotação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017520"/>
            <a:ext cx="30175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A3ADB8"/>
                </a:solidFill>
                <a:latin typeface="Calibri"/>
              </a:rPr>
              <a:t>10 ou mais computadores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DDB06A"/>
                </a:solidFill>
                <a:latin typeface="Calibri"/>
              </a:rPr>
              <a:t>✓  </a:t>
            </a:r>
            <a:r>
              <a:rPr sz="1300">
                <a:solidFill>
                  <a:srgbClr val="E9ECEF"/>
                </a:solidFill>
                <a:latin typeface="Calibri"/>
              </a:rPr>
              <a:t>Workspace da empresa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97763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DDB06A"/>
                </a:solidFill>
                <a:latin typeface="Calibri"/>
              </a:rPr>
              <a:t>✓  </a:t>
            </a:r>
            <a:r>
              <a:rPr sz="1300">
                <a:solidFill>
                  <a:srgbClr val="E9ECEF"/>
                </a:solidFill>
                <a:latin typeface="Calibri"/>
              </a:rPr>
              <a:t>Perfis e clientes compartilhados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DDB06A"/>
                </a:solidFill>
                <a:latin typeface="Calibri"/>
              </a:rPr>
              <a:t>✓  </a:t>
            </a:r>
            <a:r>
              <a:rPr sz="1300">
                <a:solidFill>
                  <a:srgbClr val="E9ECEF"/>
                </a:solidFill>
                <a:latin typeface="Calibri"/>
              </a:rPr>
              <a:t>Produção da equipe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72800" cy="77724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3A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550408"/>
            <a:ext cx="1051560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A3ADB8"/>
                </a:solidFill>
                <a:latin typeface="Calibri"/>
              </a:rPr>
              <a:t>Experimente antes: 24 horas de avaliação com tudo liberado; depois, modo grátis para criar projetos e traduzir à mão. A IA usa a chave do próprio cliente, sem margem. Valores mensais, sujeitos a alteração.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56248"/>
            <a:ext cx="5486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A3ADB8"/>
                </a:solidFill>
                <a:latin typeface="Calibri"/>
              </a:rPr>
              <a:t>CNT Legendas  ·  legendas.cntoficial.com.br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6556248"/>
            <a:ext cx="52120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A3ADB8"/>
                </a:solidFill>
                <a:latin typeface="Calibri"/>
              </a:rPr>
              <a:t>Aplicativo em constante atualização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1554480" cy="5311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10312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DDB06A"/>
                </a:solidFill>
                <a:latin typeface="Calibri"/>
              </a:rPr>
              <a:t>VAMOS CONVERSAR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5669280" cy="2011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5000" b="0">
                <a:solidFill>
                  <a:srgbClr val="E9ECEF"/>
                </a:solidFill>
                <a:latin typeface="Impact"/>
              </a:rPr>
              <a:t>Teste o CNT</a:t>
            </a:r>
          </a:p>
          <a:p>
            <a:pPr algn="l">
              <a:lnSpc>
                <a:spcPct val="95000"/>
              </a:lnSpc>
            </a:pPr>
            <a:r>
              <a:rPr sz="5000" b="0">
                <a:solidFill>
                  <a:srgbClr val="E9ECEF"/>
                </a:solidFill>
                <a:latin typeface="Impact"/>
              </a:rPr>
              <a:t>Legendas hoje.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530352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A3ADB8"/>
                </a:solidFill>
                <a:latin typeface="Calibri"/>
              </a:rPr>
              <a:t>Baixe o instalador, use tudo por 24 horas e veja quanto tempo sua equipe ganha por episódio. Se quiser, fazemos uma demonstração com um arquivo do seu fluxo.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4754880" cy="777240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 w="12700">
            <a:solidFill>
              <a:srgbClr val="DDB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43891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A3ADB8"/>
                </a:solidFill>
                <a:latin typeface="Calibri"/>
              </a:rPr>
              <a:t>SITE E DOWNLOAD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33288"/>
            <a:ext cx="4389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E9ECEF"/>
                </a:solidFill>
                <a:latin typeface="Calibri"/>
              </a:rPr>
              <a:t>legendas.cntoficial.com.br</a:t>
            </a:r>
          </a:p>
        </p:txBody>
      </p:sp>
      <p:pic>
        <p:nvPicPr>
          <p:cNvPr id="9" name="Picture 8" descr="inici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914400"/>
            <a:ext cx="5120640" cy="3200400"/>
          </a:xfrm>
          <a:prstGeom prst="rect">
            <a:avLst/>
          </a:prstGeom>
          <a:ln w="12700">
            <a:solidFill>
              <a:srgbClr val="3A414B"/>
            </a:solidFill>
          </a:ln>
        </p:spPr>
      </p:pic>
      <p:pic>
        <p:nvPicPr>
          <p:cNvPr id="10" name="Picture 9" descr="novo-trabalh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3566160"/>
            <a:ext cx="4572000" cy="2857500"/>
          </a:xfrm>
          <a:prstGeom prst="rect">
            <a:avLst/>
          </a:prstGeom>
          <a:ln w="12700">
            <a:solidFill>
              <a:srgbClr val="3A414B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